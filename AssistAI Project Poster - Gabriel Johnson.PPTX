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Lst>
  <p:sldIdLst>
    <p:sldId id="288" r:id="rId5"/>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1E3F"/>
    <a:srgbClr val="00FFFF"/>
    <a:srgbClr val="CC0066"/>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4694"/>
  </p:normalViewPr>
  <p:slideViewPr>
    <p:cSldViewPr snapToGrid="0" snapToObjects="1">
      <p:cViewPr>
        <p:scale>
          <a:sx n="21" d="100"/>
          <a:sy n="21" d="100"/>
        </p:scale>
        <p:origin x="994"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A picture containing drawing&#10;&#10;Description automatically generated">
            <a:extLst>
              <a:ext uri="{FF2B5EF4-FFF2-40B4-BE49-F238E27FC236}">
                <a16:creationId xmlns:a16="http://schemas.microsoft.com/office/drawing/2014/main" id="{5DCD6FC0-9A53-41D4-9AF0-D98C1BD0FD95}"/>
              </a:ext>
            </a:extLst>
          </p:cNvPr>
          <p:cNvPicPr>
            <a:picLocks noChangeAspect="1"/>
          </p:cNvPicPr>
          <p:nvPr userDrawn="1"/>
        </p:nvPicPr>
        <p:blipFill>
          <a:blip r:embed="rId2"/>
          <a:stretch>
            <a:fillRect/>
          </a:stretch>
        </p:blipFill>
        <p:spPr>
          <a:xfrm>
            <a:off x="1196797" y="1016276"/>
            <a:ext cx="3641446" cy="3126894"/>
          </a:xfrm>
          <a:prstGeom prst="rect">
            <a:avLst/>
          </a:prstGeom>
        </p:spPr>
      </p:pic>
      <p:sp>
        <p:nvSpPr>
          <p:cNvPr id="11" name="TextBox 10">
            <a:extLst>
              <a:ext uri="{FF2B5EF4-FFF2-40B4-BE49-F238E27FC236}">
                <a16:creationId xmlns:a16="http://schemas.microsoft.com/office/drawing/2014/main" id="{8CE4101A-4EAF-4CCB-8625-174A47CD7243}"/>
              </a:ext>
            </a:extLst>
          </p:cNvPr>
          <p:cNvSpPr txBox="1"/>
          <p:nvPr userDrawn="1"/>
        </p:nvSpPr>
        <p:spPr>
          <a:xfrm>
            <a:off x="28889373" y="31366048"/>
            <a:ext cx="14007606" cy="707886"/>
          </a:xfrm>
          <a:prstGeom prst="rect">
            <a:avLst/>
          </a:prstGeom>
          <a:noFill/>
        </p:spPr>
        <p:txBody>
          <a:bodyPr wrap="square" rtlCol="0">
            <a:spAutoFit/>
          </a:bodyPr>
          <a:lstStyle/>
          <a:p>
            <a:pPr algn="ctr"/>
            <a:r>
              <a:rPr lang="en-US" sz="4000" kern="1200" spc="300" dirty="0">
                <a:solidFill>
                  <a:schemeClr val="bg2">
                    <a:lumMod val="75000"/>
                  </a:schemeClr>
                </a:solidFill>
                <a:latin typeface="Arial" panose="020B0604020202020204" pitchFamily="34" charset="0"/>
                <a:ea typeface="+mn-ea"/>
                <a:cs typeface="Arial" panose="020B0604020202020204" pitchFamily="34" charset="0"/>
              </a:rPr>
              <a:t>FLORIDA INTERNATIONAL UNIVERSITY</a:t>
            </a:r>
          </a:p>
        </p:txBody>
      </p:sp>
    </p:spTree>
    <p:extLst>
      <p:ext uri="{BB962C8B-B14F-4D97-AF65-F5344CB8AC3E}">
        <p14:creationId xmlns:p14="http://schemas.microsoft.com/office/powerpoint/2010/main" val="315751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Blank4">
    <p:bg>
      <p:bgPr>
        <a:solidFill>
          <a:schemeClr val="bg1">
            <a:lumMod val="95000"/>
          </a:schemeClr>
        </a:solidFill>
        <a:effectLst/>
      </p:bgPr>
    </p:bg>
    <p:spTree>
      <p:nvGrpSpPr>
        <p:cNvPr id="1" name=""/>
        <p:cNvGrpSpPr/>
        <p:nvPr/>
      </p:nvGrpSpPr>
      <p:grpSpPr>
        <a:xfrm>
          <a:off x="0" y="0"/>
          <a:ext cx="0" cy="0"/>
          <a:chOff x="0" y="0"/>
          <a:chExt cx="0" cy="0"/>
        </a:xfrm>
      </p:grpSpPr>
      <p:pic>
        <p:nvPicPr>
          <p:cNvPr id="5" name="Content Placeholder 4" descr="A close up of a sign&#10;&#10;Description automatically generated">
            <a:extLst>
              <a:ext uri="{FF2B5EF4-FFF2-40B4-BE49-F238E27FC236}">
                <a16:creationId xmlns:a16="http://schemas.microsoft.com/office/drawing/2014/main" id="{55DB903B-98F2-42E8-93EE-8D99890072AF}"/>
              </a:ext>
            </a:extLst>
          </p:cNvPr>
          <p:cNvPicPr>
            <a:picLocks noChangeAspect="1"/>
          </p:cNvPicPr>
          <p:nvPr userDrawn="1"/>
        </p:nvPicPr>
        <p:blipFill>
          <a:blip r:embed="rId2"/>
          <a:stretch>
            <a:fillRect/>
          </a:stretch>
        </p:blipFill>
        <p:spPr>
          <a:xfrm>
            <a:off x="1097308" y="1089188"/>
            <a:ext cx="3641448" cy="3126894"/>
          </a:xfrm>
          <a:prstGeom prst="rect">
            <a:avLst/>
          </a:prstGeom>
        </p:spPr>
      </p:pic>
      <p:sp>
        <p:nvSpPr>
          <p:cNvPr id="2" name="TextBox 1">
            <a:extLst>
              <a:ext uri="{FF2B5EF4-FFF2-40B4-BE49-F238E27FC236}">
                <a16:creationId xmlns:a16="http://schemas.microsoft.com/office/drawing/2014/main" id="{01839FC9-247D-4D7A-A2BE-015BBDA6CC8E}"/>
              </a:ext>
            </a:extLst>
          </p:cNvPr>
          <p:cNvSpPr txBox="1"/>
          <p:nvPr userDrawn="1"/>
        </p:nvSpPr>
        <p:spPr>
          <a:xfrm>
            <a:off x="28889373" y="31366048"/>
            <a:ext cx="14007606" cy="707886"/>
          </a:xfrm>
          <a:prstGeom prst="rect">
            <a:avLst/>
          </a:prstGeom>
          <a:noFill/>
        </p:spPr>
        <p:txBody>
          <a:bodyPr wrap="square" rtlCol="0">
            <a:spAutoFit/>
          </a:bodyPr>
          <a:lstStyle/>
          <a:p>
            <a:pPr algn="ctr"/>
            <a:r>
              <a:rPr lang="en-US" sz="4000" kern="1200" spc="300" dirty="0">
                <a:solidFill>
                  <a:schemeClr val="bg2">
                    <a:lumMod val="75000"/>
                  </a:schemeClr>
                </a:solidFill>
                <a:latin typeface="Arial" panose="020B0604020202020204" pitchFamily="34" charset="0"/>
                <a:ea typeface="+mn-ea"/>
                <a:cs typeface="Arial" panose="020B0604020202020204" pitchFamily="34" charset="0"/>
              </a:rPr>
              <a:t>FLORIDA INTERNATIONAL UNIVERSITY</a:t>
            </a:r>
          </a:p>
        </p:txBody>
      </p:sp>
    </p:spTree>
    <p:extLst>
      <p:ext uri="{BB962C8B-B14F-4D97-AF65-F5344CB8AC3E}">
        <p14:creationId xmlns:p14="http://schemas.microsoft.com/office/powerpoint/2010/main" val="394988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2_Blank4">
    <p:bg>
      <p:bgPr>
        <a:solidFill>
          <a:schemeClr val="bg1">
            <a:lumMod val="95000"/>
          </a:schemeClr>
        </a:solidFill>
        <a:effectLst/>
      </p:bgPr>
    </p:bg>
    <p:spTree>
      <p:nvGrpSpPr>
        <p:cNvPr id="1" name=""/>
        <p:cNvGrpSpPr/>
        <p:nvPr/>
      </p:nvGrpSpPr>
      <p:grpSpPr>
        <a:xfrm>
          <a:off x="0" y="0"/>
          <a:ext cx="0" cy="0"/>
          <a:chOff x="0" y="0"/>
          <a:chExt cx="0" cy="0"/>
        </a:xfrm>
      </p:grpSpPr>
      <p:pic>
        <p:nvPicPr>
          <p:cNvPr id="5" name="Content Placeholder 4" descr="A close up of a sign&#10;&#10;Description automatically generated">
            <a:extLst>
              <a:ext uri="{FF2B5EF4-FFF2-40B4-BE49-F238E27FC236}">
                <a16:creationId xmlns:a16="http://schemas.microsoft.com/office/drawing/2014/main" id="{55DB903B-98F2-42E8-93EE-8D99890072AF}"/>
              </a:ext>
            </a:extLst>
          </p:cNvPr>
          <p:cNvPicPr>
            <a:picLocks noChangeAspect="1"/>
          </p:cNvPicPr>
          <p:nvPr userDrawn="1"/>
        </p:nvPicPr>
        <p:blipFill>
          <a:blip r:embed="rId2"/>
          <a:stretch>
            <a:fillRect/>
          </a:stretch>
        </p:blipFill>
        <p:spPr>
          <a:xfrm>
            <a:off x="994221" y="30227620"/>
            <a:ext cx="2651530" cy="2276856"/>
          </a:xfrm>
          <a:prstGeom prst="rect">
            <a:avLst/>
          </a:prstGeom>
        </p:spPr>
      </p:pic>
      <p:sp>
        <p:nvSpPr>
          <p:cNvPr id="2" name="TextBox 1">
            <a:extLst>
              <a:ext uri="{FF2B5EF4-FFF2-40B4-BE49-F238E27FC236}">
                <a16:creationId xmlns:a16="http://schemas.microsoft.com/office/drawing/2014/main" id="{01839FC9-247D-4D7A-A2BE-015BBDA6CC8E}"/>
              </a:ext>
            </a:extLst>
          </p:cNvPr>
          <p:cNvSpPr txBox="1"/>
          <p:nvPr userDrawn="1"/>
        </p:nvSpPr>
        <p:spPr>
          <a:xfrm>
            <a:off x="28889373" y="31366048"/>
            <a:ext cx="14007606" cy="707886"/>
          </a:xfrm>
          <a:prstGeom prst="rect">
            <a:avLst/>
          </a:prstGeom>
          <a:noFill/>
        </p:spPr>
        <p:txBody>
          <a:bodyPr wrap="square" rtlCol="0">
            <a:spAutoFit/>
          </a:bodyPr>
          <a:lstStyle/>
          <a:p>
            <a:pPr algn="ctr"/>
            <a:r>
              <a:rPr lang="en-US" sz="4000" kern="1200" spc="300" dirty="0">
                <a:solidFill>
                  <a:schemeClr val="bg2">
                    <a:lumMod val="75000"/>
                  </a:schemeClr>
                </a:solidFill>
                <a:latin typeface="Arial" panose="020B0604020202020204" pitchFamily="34" charset="0"/>
                <a:ea typeface="+mn-ea"/>
                <a:cs typeface="Arial" panose="020B0604020202020204" pitchFamily="34" charset="0"/>
              </a:rPr>
              <a:t>FLORIDA INTERNATIONAL UNIVERSITY</a:t>
            </a:r>
          </a:p>
        </p:txBody>
      </p:sp>
      <p:sp>
        <p:nvSpPr>
          <p:cNvPr id="7" name="Rectangle 6">
            <a:extLst>
              <a:ext uri="{FF2B5EF4-FFF2-40B4-BE49-F238E27FC236}">
                <a16:creationId xmlns:a16="http://schemas.microsoft.com/office/drawing/2014/main" id="{8D9CE1F4-64CC-475B-AD92-B190038A1D37}"/>
              </a:ext>
            </a:extLst>
          </p:cNvPr>
          <p:cNvSpPr/>
          <p:nvPr userDrawn="1"/>
        </p:nvSpPr>
        <p:spPr>
          <a:xfrm>
            <a:off x="0" y="29233911"/>
            <a:ext cx="43891200" cy="395021"/>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80"/>
          </a:p>
        </p:txBody>
      </p:sp>
    </p:spTree>
    <p:extLst>
      <p:ext uri="{BB962C8B-B14F-4D97-AF65-F5344CB8AC3E}">
        <p14:creationId xmlns:p14="http://schemas.microsoft.com/office/powerpoint/2010/main" val="3058827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AA6CF3-8F5C-40B7-87B4-14179EAE8FF0}"/>
              </a:ext>
            </a:extLst>
          </p:cNvPr>
          <p:cNvSpPr/>
          <p:nvPr userDrawn="1"/>
        </p:nvSpPr>
        <p:spPr>
          <a:xfrm>
            <a:off x="0" y="29233911"/>
            <a:ext cx="43891200" cy="395021"/>
          </a:xfrm>
          <a:prstGeom prst="rec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80"/>
          </a:p>
        </p:txBody>
      </p:sp>
      <p:sp>
        <p:nvSpPr>
          <p:cNvPr id="8" name="TextBox 7">
            <a:extLst>
              <a:ext uri="{FF2B5EF4-FFF2-40B4-BE49-F238E27FC236}">
                <a16:creationId xmlns:a16="http://schemas.microsoft.com/office/drawing/2014/main" id="{85E76EEA-1C1C-4E16-A425-AC142D1507D4}"/>
              </a:ext>
            </a:extLst>
          </p:cNvPr>
          <p:cNvSpPr txBox="1"/>
          <p:nvPr userDrawn="1"/>
        </p:nvSpPr>
        <p:spPr>
          <a:xfrm>
            <a:off x="28889373" y="31366048"/>
            <a:ext cx="14007606" cy="707886"/>
          </a:xfrm>
          <a:prstGeom prst="rect">
            <a:avLst/>
          </a:prstGeom>
          <a:noFill/>
        </p:spPr>
        <p:txBody>
          <a:bodyPr wrap="square" rtlCol="0">
            <a:spAutoFit/>
          </a:bodyPr>
          <a:lstStyle/>
          <a:p>
            <a:pPr algn="ctr"/>
            <a:r>
              <a:rPr lang="en-US" sz="4000" kern="1200" spc="300" dirty="0">
                <a:solidFill>
                  <a:schemeClr val="bg2">
                    <a:lumMod val="75000"/>
                  </a:schemeClr>
                </a:solidFill>
                <a:latin typeface="Arial" panose="020B0604020202020204" pitchFamily="34" charset="0"/>
                <a:ea typeface="+mn-ea"/>
                <a:cs typeface="Arial" panose="020B0604020202020204" pitchFamily="34" charset="0"/>
              </a:rPr>
              <a:t>FLORIDA INTERNATIONAL UNIVERSITY</a:t>
            </a:r>
          </a:p>
        </p:txBody>
      </p:sp>
      <p:pic>
        <p:nvPicPr>
          <p:cNvPr id="10" name="Picture 9" descr="A picture containing drawing&#10;&#10;Description automatically generated">
            <a:extLst>
              <a:ext uri="{FF2B5EF4-FFF2-40B4-BE49-F238E27FC236}">
                <a16:creationId xmlns:a16="http://schemas.microsoft.com/office/drawing/2014/main" id="{8B13F625-B1D2-431F-8371-8144586D6C47}"/>
              </a:ext>
            </a:extLst>
          </p:cNvPr>
          <p:cNvPicPr>
            <a:picLocks noChangeAspect="1"/>
          </p:cNvPicPr>
          <p:nvPr userDrawn="1"/>
        </p:nvPicPr>
        <p:blipFill>
          <a:blip r:embed="rId3"/>
          <a:stretch>
            <a:fillRect/>
          </a:stretch>
        </p:blipFill>
        <p:spPr>
          <a:xfrm>
            <a:off x="994221" y="30229645"/>
            <a:ext cx="2646812" cy="2272806"/>
          </a:xfrm>
          <a:prstGeom prst="rect">
            <a:avLst/>
          </a:prstGeom>
        </p:spPr>
      </p:pic>
    </p:spTree>
    <p:extLst>
      <p:ext uri="{BB962C8B-B14F-4D97-AF65-F5344CB8AC3E}">
        <p14:creationId xmlns:p14="http://schemas.microsoft.com/office/powerpoint/2010/main" val="28791658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6272857"/>
      </p:ext>
    </p:extLst>
  </p:cSld>
  <p:clrMap bg1="lt1" tx1="dk1" bg2="lt2" tx2="dk2" accent1="accent1" accent2="accent2" accent3="accent3" accent4="accent4" accent5="accent5" accent6="accent6" hlink="hlink" folHlink="folHlink"/>
  <p:sldLayoutIdLst>
    <p:sldLayoutId id="2147483694" r:id="rId1"/>
    <p:sldLayoutId id="2147483714" r:id="rId2"/>
    <p:sldLayoutId id="2147483715" r:id="rId3"/>
    <p:sldLayoutId id="2147483702" r:id="rId4"/>
  </p:sldLayoutIdLst>
  <p:txStyles>
    <p:titleStyle>
      <a:lvl1pPr algn="l" defTabSz="3291840" rtl="0" eaLnBrk="1" latinLnBrk="0" hangingPunct="1">
        <a:lnSpc>
          <a:spcPct val="90000"/>
        </a:lnSpc>
        <a:spcBef>
          <a:spcPct val="0"/>
        </a:spcBef>
        <a:buNone/>
        <a:defRPr sz="15840" b="1" kern="1200">
          <a:solidFill>
            <a:schemeClr val="bg1"/>
          </a:solidFill>
          <a:latin typeface="Neue Haas Grotesk Text Pro" panose="020B0504020202020204" pitchFamily="34" charset="0"/>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bg1"/>
          </a:solidFill>
          <a:latin typeface="Neue Haas Grotesk Text Pro" panose="020B0504020202020204" pitchFamily="34" charset="0"/>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bg1"/>
          </a:solidFill>
          <a:latin typeface="Neue Haas Grotesk Text Pro" panose="020B0504020202020204" pitchFamily="34" charset="0"/>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bg1"/>
          </a:solidFill>
          <a:latin typeface="Neue Haas Grotesk Text Pro" panose="020B0504020202020204" pitchFamily="34" charset="0"/>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bg1"/>
          </a:solidFill>
          <a:latin typeface="Neue Haas Grotesk Text Pro" panose="020B0504020202020204" pitchFamily="34" charset="0"/>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bg1"/>
          </a:solidFill>
          <a:latin typeface="Neue Haas Grotesk Text Pro" panose="020B0504020202020204" pitchFamily="34" charset="0"/>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hyperlink" Target="https://public.tableau.com/app/profile/jaden.noronha/viz/HistoricalAverageNBAPlayer/Dashboard1?publish=yes" TargetMode="Externa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72">
            <a:extLst>
              <a:ext uri="{FF2B5EF4-FFF2-40B4-BE49-F238E27FC236}">
                <a16:creationId xmlns:a16="http://schemas.microsoft.com/office/drawing/2014/main" id="{D96A1848-809F-405A-BFAA-B46B4A55D52D}"/>
              </a:ext>
            </a:extLst>
          </p:cNvPr>
          <p:cNvSpPr txBox="1">
            <a:spLocks noChangeArrowheads="1"/>
          </p:cNvSpPr>
          <p:nvPr/>
        </p:nvSpPr>
        <p:spPr bwMode="auto">
          <a:xfrm>
            <a:off x="7732054" y="31318197"/>
            <a:ext cx="21444395" cy="813376"/>
          </a:xfrm>
          <a:prstGeom prst="rect">
            <a:avLst/>
          </a:prstGeom>
          <a:noFill/>
          <a:ln w="63500">
            <a:noFill/>
            <a:miter lim="800000"/>
            <a:headEnd/>
            <a:tailEnd/>
          </a:ln>
          <a:extLst>
            <a:ext uri="{909E8E84-426E-40DD-AFC4-6F175D3DCCD1}">
              <a14:hiddenFill xmlns:a14="http://schemas.microsoft.com/office/drawing/2010/main">
                <a:solidFill>
                  <a:srgbClr val="FFFFFF"/>
                </a:solidFill>
              </a14:hiddenFill>
            </a:ext>
          </a:extLst>
        </p:spPr>
        <p:txBody>
          <a:bodyPr wrap="square" lIns="73991" tIns="36995" rIns="73991" bIns="36995" anchor="t">
            <a:spAutoFit/>
          </a:bodyPr>
          <a:lstStyle>
            <a:lvl1pPr marL="493713" indent="-493713" defTabSz="985838">
              <a:spcBef>
                <a:spcPct val="20000"/>
              </a:spcBef>
              <a:buChar char="•"/>
              <a:defRPr sz="11200">
                <a:solidFill>
                  <a:schemeClr val="tx1"/>
                </a:solidFill>
                <a:latin typeface="Arial" panose="020B0604020202020204" pitchFamily="34" charset="0"/>
                <a:ea typeface="ＭＳ Ｐゴシック" panose="020B0600070205080204" pitchFamily="34" charset="-128"/>
              </a:defRPr>
            </a:lvl1pPr>
            <a:lvl2pPr marL="37931725" indent="-37474525" defTabSz="985838">
              <a:spcBef>
                <a:spcPct val="20000"/>
              </a:spcBef>
              <a:buChar char="–"/>
              <a:defRPr sz="9700">
                <a:solidFill>
                  <a:schemeClr val="tx1"/>
                </a:solidFill>
                <a:latin typeface="Arial" panose="020B0604020202020204" pitchFamily="34" charset="0"/>
                <a:ea typeface="ＭＳ Ｐゴシック" panose="020B0600070205080204" pitchFamily="34" charset="-128"/>
              </a:defRPr>
            </a:lvl2pPr>
            <a:lvl3pPr marL="5356225" indent="-1071563" defTabSz="985838">
              <a:spcBef>
                <a:spcPct val="20000"/>
              </a:spcBef>
              <a:buChar char="•"/>
              <a:defRPr sz="8400">
                <a:solidFill>
                  <a:schemeClr val="tx1"/>
                </a:solidFill>
                <a:latin typeface="Arial" panose="020B0604020202020204" pitchFamily="34" charset="0"/>
                <a:ea typeface="ＭＳ Ｐゴシック" panose="020B0600070205080204" pitchFamily="34" charset="-128"/>
              </a:defRPr>
            </a:lvl3pPr>
            <a:lvl4pPr marL="7497763" indent="-1071563" defTabSz="985838">
              <a:spcBef>
                <a:spcPct val="20000"/>
              </a:spcBef>
              <a:buChar char="–"/>
              <a:defRPr sz="7000">
                <a:solidFill>
                  <a:schemeClr val="tx1"/>
                </a:solidFill>
                <a:latin typeface="Arial" panose="020B0604020202020204" pitchFamily="34" charset="0"/>
                <a:ea typeface="ＭＳ Ｐゴシック" panose="020B0600070205080204" pitchFamily="34" charset="-128"/>
              </a:defRPr>
            </a:lvl4pPr>
            <a:lvl5pPr marL="9640888" indent="-1071563" defTabSz="985838">
              <a:spcBef>
                <a:spcPct val="20000"/>
              </a:spcBef>
              <a:buChar char="»"/>
              <a:defRPr sz="7000">
                <a:solidFill>
                  <a:schemeClr val="tx1"/>
                </a:solidFill>
                <a:latin typeface="Arial" panose="020B0604020202020204" pitchFamily="34" charset="0"/>
                <a:ea typeface="ＭＳ Ｐゴシック" panose="020B0600070205080204" pitchFamily="34" charset="-128"/>
              </a:defRPr>
            </a:lvl5pPr>
            <a:lvl6pPr marL="10098088" indent="-1071563" defTabSz="985838" eaLnBrk="0" fontAlgn="base" hangingPunct="0">
              <a:spcBef>
                <a:spcPct val="20000"/>
              </a:spcBef>
              <a:spcAft>
                <a:spcPct val="0"/>
              </a:spcAft>
              <a:buChar char="»"/>
              <a:defRPr sz="7000">
                <a:solidFill>
                  <a:schemeClr val="tx1"/>
                </a:solidFill>
                <a:latin typeface="Arial" panose="020B0604020202020204" pitchFamily="34" charset="0"/>
                <a:ea typeface="ＭＳ Ｐゴシック" panose="020B0600070205080204" pitchFamily="34" charset="-128"/>
              </a:defRPr>
            </a:lvl6pPr>
            <a:lvl7pPr marL="10555288" indent="-1071563" defTabSz="985838" eaLnBrk="0" fontAlgn="base" hangingPunct="0">
              <a:spcBef>
                <a:spcPct val="20000"/>
              </a:spcBef>
              <a:spcAft>
                <a:spcPct val="0"/>
              </a:spcAft>
              <a:buChar char="»"/>
              <a:defRPr sz="7000">
                <a:solidFill>
                  <a:schemeClr val="tx1"/>
                </a:solidFill>
                <a:latin typeface="Arial" panose="020B0604020202020204" pitchFamily="34" charset="0"/>
                <a:ea typeface="ＭＳ Ｐゴシック" panose="020B0600070205080204" pitchFamily="34" charset="-128"/>
              </a:defRPr>
            </a:lvl7pPr>
            <a:lvl8pPr marL="11012488" indent="-1071563" defTabSz="985838" eaLnBrk="0" fontAlgn="base" hangingPunct="0">
              <a:spcBef>
                <a:spcPct val="20000"/>
              </a:spcBef>
              <a:spcAft>
                <a:spcPct val="0"/>
              </a:spcAft>
              <a:buChar char="»"/>
              <a:defRPr sz="7000">
                <a:solidFill>
                  <a:schemeClr val="tx1"/>
                </a:solidFill>
                <a:latin typeface="Arial" panose="020B0604020202020204" pitchFamily="34" charset="0"/>
                <a:ea typeface="ＭＳ Ｐゴシック" panose="020B0600070205080204" pitchFamily="34" charset="-128"/>
              </a:defRPr>
            </a:lvl8pPr>
            <a:lvl9pPr marL="11469688" indent="-1071563" defTabSz="985838" eaLnBrk="0" fontAlgn="base" hangingPunct="0">
              <a:spcBef>
                <a:spcPct val="20000"/>
              </a:spcBef>
              <a:spcAft>
                <a:spcPct val="0"/>
              </a:spcAft>
              <a:buChar char="»"/>
              <a:defRPr sz="7000">
                <a:solidFill>
                  <a:schemeClr val="tx1"/>
                </a:solidFill>
                <a:latin typeface="Arial" panose="020B0604020202020204" pitchFamily="34" charset="0"/>
                <a:ea typeface="ＭＳ Ｐゴシック" panose="020B0600070205080204" pitchFamily="34" charset="-128"/>
              </a:defRPr>
            </a:lvl9pPr>
          </a:lstStyle>
          <a:p>
            <a:pPr marL="0" indent="0" eaLnBrk="1" hangingPunct="1">
              <a:spcBef>
                <a:spcPct val="0"/>
              </a:spcBef>
              <a:buClr>
                <a:srgbClr val="3333CC"/>
              </a:buClr>
              <a:buFontTx/>
              <a:buNone/>
            </a:pPr>
            <a:r>
              <a:rPr lang="en-US" altLang="en-US" sz="2400" dirty="0">
                <a:solidFill>
                  <a:schemeClr val="tx1">
                    <a:lumMod val="75000"/>
                    <a:lumOff val="25000"/>
                  </a:schemeClr>
                </a:solidFill>
              </a:rPr>
              <a:t>The material presented in this poster is based upon the work supported by XXXXX (</a:t>
            </a:r>
            <a:r>
              <a:rPr lang="en-US" altLang="en-US" sz="2400" i="1" dirty="0">
                <a:solidFill>
                  <a:schemeClr val="tx1">
                    <a:lumMod val="75000"/>
                    <a:lumOff val="25000"/>
                  </a:schemeClr>
                </a:solidFill>
              </a:rPr>
              <a:t>name of the project sponsor: federal, state or local government, or corporate partners, where applicable</a:t>
            </a:r>
            <a:r>
              <a:rPr lang="en-US" altLang="en-US" sz="2400" dirty="0">
                <a:solidFill>
                  <a:schemeClr val="tx1">
                    <a:lumMod val="75000"/>
                    <a:lumOff val="25000"/>
                  </a:schemeClr>
                </a:solidFill>
              </a:rPr>
              <a:t>). We/I thank XXXX for his/her/their assistance and mentorship that I/we received throughout the senior design project.</a:t>
            </a:r>
          </a:p>
        </p:txBody>
      </p:sp>
      <p:sp>
        <p:nvSpPr>
          <p:cNvPr id="5" name="Text Box 19">
            <a:extLst>
              <a:ext uri="{FF2B5EF4-FFF2-40B4-BE49-F238E27FC236}">
                <a16:creationId xmlns:a16="http://schemas.microsoft.com/office/drawing/2014/main" id="{9498F076-C398-4FAF-BD67-09AA1062EBC8}"/>
              </a:ext>
            </a:extLst>
          </p:cNvPr>
          <p:cNvSpPr txBox="1">
            <a:spLocks noChangeArrowheads="1"/>
          </p:cNvSpPr>
          <p:nvPr/>
        </p:nvSpPr>
        <p:spPr bwMode="auto">
          <a:xfrm>
            <a:off x="7732054" y="30770278"/>
            <a:ext cx="4578237" cy="547919"/>
          </a:xfrm>
          <a:prstGeom prst="rect">
            <a:avLst/>
          </a:prstGeom>
          <a:noFill/>
          <a:ln w="12700">
            <a:noFill/>
            <a:miter lim="800000"/>
            <a:headEnd/>
            <a:tailEnd/>
          </a:ln>
          <a:effectLst/>
        </p:spPr>
        <p:txBody>
          <a:bodyPr wrap="square" lIns="73991" tIns="36995" rIns="73991" bIns="36995">
            <a:spAutoFit/>
          </a:bodyPr>
          <a:lstStyle/>
          <a:p>
            <a:pPr algn="ctr" defTabSz="739341" eaLnBrk="1" hangingPunct="1">
              <a:spcBef>
                <a:spcPct val="50000"/>
              </a:spcBef>
              <a:defRPr/>
            </a:pPr>
            <a:r>
              <a:rPr lang="en-US" sz="3075" b="1" dirty="0">
                <a:solidFill>
                  <a:srgbClr val="081E3F"/>
                </a:solidFill>
                <a:latin typeface="Arial" charset="0"/>
                <a:ea typeface="ＭＳ Ｐゴシック" charset="-128"/>
                <a:cs typeface="ＭＳ Ｐゴシック" charset="-128"/>
              </a:rPr>
              <a:t>ACKNOWLEDGEMENT</a:t>
            </a:r>
          </a:p>
        </p:txBody>
      </p:sp>
      <p:sp>
        <p:nvSpPr>
          <p:cNvPr id="7" name="TextBox 3">
            <a:extLst>
              <a:ext uri="{FF2B5EF4-FFF2-40B4-BE49-F238E27FC236}">
                <a16:creationId xmlns:a16="http://schemas.microsoft.com/office/drawing/2014/main" id="{43F7DBC2-9F0A-484E-9F67-47ED8F93A30E}"/>
              </a:ext>
            </a:extLst>
          </p:cNvPr>
          <p:cNvSpPr txBox="1">
            <a:spLocks noChangeArrowheads="1"/>
          </p:cNvSpPr>
          <p:nvPr/>
        </p:nvSpPr>
        <p:spPr bwMode="auto">
          <a:xfrm>
            <a:off x="3986784" y="617630"/>
            <a:ext cx="33357312" cy="2277547"/>
          </a:xfrm>
          <a:prstGeom prst="rect">
            <a:avLst/>
          </a:prstGeom>
          <a:noFill/>
          <a:ln>
            <a:noFill/>
          </a:ln>
        </p:spPr>
        <p:txBody>
          <a:bodyPr wrap="square">
            <a:spAutoFit/>
          </a:bodyPr>
          <a:lstStyle>
            <a:lvl1pPr>
              <a:defRPr sz="7200">
                <a:solidFill>
                  <a:schemeClr val="tx1"/>
                </a:solidFill>
                <a:latin typeface="Arial" panose="020B0604020202020204" pitchFamily="34" charset="0"/>
                <a:ea typeface="ＭＳ Ｐゴシック" panose="020B0600070205080204" pitchFamily="34" charset="-128"/>
              </a:defRPr>
            </a:lvl1pPr>
            <a:lvl2pPr marL="742950" indent="-285750">
              <a:defRPr sz="7200">
                <a:solidFill>
                  <a:schemeClr val="tx1"/>
                </a:solidFill>
                <a:latin typeface="Arial" panose="020B0604020202020204" pitchFamily="34" charset="0"/>
                <a:ea typeface="ＭＳ Ｐゴシック" panose="020B0600070205080204" pitchFamily="34" charset="-128"/>
              </a:defRPr>
            </a:lvl2pPr>
            <a:lvl3pPr marL="1143000" indent="-228600">
              <a:defRPr sz="7200">
                <a:solidFill>
                  <a:schemeClr val="tx1"/>
                </a:solidFill>
                <a:latin typeface="Arial" panose="020B0604020202020204" pitchFamily="34" charset="0"/>
                <a:ea typeface="ＭＳ Ｐゴシック" panose="020B0600070205080204" pitchFamily="34" charset="-128"/>
              </a:defRPr>
            </a:lvl3pPr>
            <a:lvl4pPr marL="1600200" indent="-228600">
              <a:defRPr sz="7200">
                <a:solidFill>
                  <a:schemeClr val="tx1"/>
                </a:solidFill>
                <a:latin typeface="Arial" panose="020B0604020202020204" pitchFamily="34" charset="0"/>
                <a:ea typeface="ＭＳ Ｐゴシック" panose="020B0600070205080204" pitchFamily="34" charset="-128"/>
              </a:defRPr>
            </a:lvl4pPr>
            <a:lvl5pPr marL="2057400" indent="-228600">
              <a:defRPr sz="7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7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7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7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72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8800" b="1" dirty="0">
                <a:solidFill>
                  <a:schemeClr val="tx1">
                    <a:lumMod val="75000"/>
                    <a:lumOff val="25000"/>
                  </a:schemeClr>
                </a:solidFill>
              </a:rPr>
              <a:t>Florida International University Engineering and Computing</a:t>
            </a:r>
          </a:p>
          <a:p>
            <a:pPr algn="ctr" eaLnBrk="1" hangingPunct="1"/>
            <a:r>
              <a:rPr lang="en-US" altLang="en-US" sz="5400" i="1" dirty="0">
                <a:solidFill>
                  <a:schemeClr val="tx1">
                    <a:lumMod val="75000"/>
                    <a:lumOff val="25000"/>
                  </a:schemeClr>
                </a:solidFill>
              </a:rPr>
              <a:t>2024 Fall Senior Design Project</a:t>
            </a:r>
          </a:p>
        </p:txBody>
      </p:sp>
      <p:sp>
        <p:nvSpPr>
          <p:cNvPr id="9" name="Text Box 12">
            <a:extLst>
              <a:ext uri="{FF2B5EF4-FFF2-40B4-BE49-F238E27FC236}">
                <a16:creationId xmlns:a16="http://schemas.microsoft.com/office/drawing/2014/main" id="{9780F14B-D22A-432C-BDFA-656CFE50CBE2}"/>
              </a:ext>
            </a:extLst>
          </p:cNvPr>
          <p:cNvSpPr txBox="1">
            <a:spLocks noChangeArrowheads="1"/>
          </p:cNvSpPr>
          <p:nvPr/>
        </p:nvSpPr>
        <p:spPr bwMode="auto">
          <a:xfrm>
            <a:off x="4343400" y="2979162"/>
            <a:ext cx="35204400"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3991" tIns="36995" rIns="73991" bIns="36995">
            <a:spAutoFit/>
          </a:bodyPr>
          <a:lstStyle>
            <a:lvl1pPr defTabSz="985838">
              <a:spcBef>
                <a:spcPct val="20000"/>
              </a:spcBef>
              <a:buChar char="•"/>
              <a:defRPr sz="11200">
                <a:solidFill>
                  <a:schemeClr val="tx1"/>
                </a:solidFill>
                <a:latin typeface="Arial" panose="020B0604020202020204" pitchFamily="34" charset="0"/>
                <a:ea typeface="ＭＳ Ｐゴシック" panose="020B0600070205080204" pitchFamily="34" charset="-128"/>
              </a:defRPr>
            </a:lvl1pPr>
            <a:lvl2pPr marL="37931725" indent="-37474525" defTabSz="985838">
              <a:spcBef>
                <a:spcPct val="20000"/>
              </a:spcBef>
              <a:buChar char="–"/>
              <a:defRPr sz="9700">
                <a:solidFill>
                  <a:schemeClr val="tx1"/>
                </a:solidFill>
                <a:latin typeface="Arial" panose="020B0604020202020204" pitchFamily="34" charset="0"/>
                <a:ea typeface="ＭＳ Ｐゴシック" panose="020B0600070205080204" pitchFamily="34" charset="-128"/>
              </a:defRPr>
            </a:lvl2pPr>
            <a:lvl3pPr marL="5356225" indent="-1071563" defTabSz="985838">
              <a:spcBef>
                <a:spcPct val="20000"/>
              </a:spcBef>
              <a:buChar char="•"/>
              <a:defRPr sz="8400">
                <a:solidFill>
                  <a:schemeClr val="tx1"/>
                </a:solidFill>
                <a:latin typeface="Arial" panose="020B0604020202020204" pitchFamily="34" charset="0"/>
                <a:ea typeface="ＭＳ Ｐゴシック" panose="020B0600070205080204" pitchFamily="34" charset="-128"/>
              </a:defRPr>
            </a:lvl3pPr>
            <a:lvl4pPr marL="7497763" indent="-1071563" defTabSz="985838">
              <a:spcBef>
                <a:spcPct val="20000"/>
              </a:spcBef>
              <a:buChar char="–"/>
              <a:defRPr sz="7000">
                <a:solidFill>
                  <a:schemeClr val="tx1"/>
                </a:solidFill>
                <a:latin typeface="Arial" panose="020B0604020202020204" pitchFamily="34" charset="0"/>
                <a:ea typeface="ＭＳ Ｐゴシック" panose="020B0600070205080204" pitchFamily="34" charset="-128"/>
              </a:defRPr>
            </a:lvl4pPr>
            <a:lvl5pPr marL="9640888" indent="-1071563" defTabSz="985838">
              <a:spcBef>
                <a:spcPct val="20000"/>
              </a:spcBef>
              <a:buChar char="»"/>
              <a:defRPr sz="7000">
                <a:solidFill>
                  <a:schemeClr val="tx1"/>
                </a:solidFill>
                <a:latin typeface="Arial" panose="020B0604020202020204" pitchFamily="34" charset="0"/>
                <a:ea typeface="ＭＳ Ｐゴシック" panose="020B0600070205080204" pitchFamily="34" charset="-128"/>
              </a:defRPr>
            </a:lvl5pPr>
            <a:lvl6pPr marL="10098088" indent="-1071563" defTabSz="985838" eaLnBrk="0" fontAlgn="base" hangingPunct="0">
              <a:spcBef>
                <a:spcPct val="20000"/>
              </a:spcBef>
              <a:spcAft>
                <a:spcPct val="0"/>
              </a:spcAft>
              <a:buChar char="»"/>
              <a:defRPr sz="7000">
                <a:solidFill>
                  <a:schemeClr val="tx1"/>
                </a:solidFill>
                <a:latin typeface="Arial" panose="020B0604020202020204" pitchFamily="34" charset="0"/>
                <a:ea typeface="ＭＳ Ｐゴシック" panose="020B0600070205080204" pitchFamily="34" charset="-128"/>
              </a:defRPr>
            </a:lvl6pPr>
            <a:lvl7pPr marL="10555288" indent="-1071563" defTabSz="985838" eaLnBrk="0" fontAlgn="base" hangingPunct="0">
              <a:spcBef>
                <a:spcPct val="20000"/>
              </a:spcBef>
              <a:spcAft>
                <a:spcPct val="0"/>
              </a:spcAft>
              <a:buChar char="»"/>
              <a:defRPr sz="7000">
                <a:solidFill>
                  <a:schemeClr val="tx1"/>
                </a:solidFill>
                <a:latin typeface="Arial" panose="020B0604020202020204" pitchFamily="34" charset="0"/>
                <a:ea typeface="ＭＳ Ｐゴシック" panose="020B0600070205080204" pitchFamily="34" charset="-128"/>
              </a:defRPr>
            </a:lvl7pPr>
            <a:lvl8pPr marL="11012488" indent="-1071563" defTabSz="985838" eaLnBrk="0" fontAlgn="base" hangingPunct="0">
              <a:spcBef>
                <a:spcPct val="20000"/>
              </a:spcBef>
              <a:spcAft>
                <a:spcPct val="0"/>
              </a:spcAft>
              <a:buChar char="»"/>
              <a:defRPr sz="7000">
                <a:solidFill>
                  <a:schemeClr val="tx1"/>
                </a:solidFill>
                <a:latin typeface="Arial" panose="020B0604020202020204" pitchFamily="34" charset="0"/>
                <a:ea typeface="ＭＳ Ｐゴシック" panose="020B0600070205080204" pitchFamily="34" charset="-128"/>
              </a:defRPr>
            </a:lvl8pPr>
            <a:lvl9pPr marL="11469688" indent="-1071563" defTabSz="985838" eaLnBrk="0" fontAlgn="base" hangingPunct="0">
              <a:spcBef>
                <a:spcPct val="20000"/>
              </a:spcBef>
              <a:spcAft>
                <a:spcPct val="0"/>
              </a:spcAft>
              <a:buChar char="»"/>
              <a:defRPr sz="7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10000" b="1" dirty="0">
                <a:solidFill>
                  <a:srgbClr val="081E3F"/>
                </a:solidFill>
              </a:rPr>
              <a:t>Assist AI Basketball Performance Monitoring</a:t>
            </a:r>
          </a:p>
          <a:p>
            <a:pPr algn="ctr" eaLnBrk="1" hangingPunct="1">
              <a:spcBef>
                <a:spcPct val="0"/>
              </a:spcBef>
              <a:buFontTx/>
              <a:buNone/>
            </a:pPr>
            <a:r>
              <a:rPr lang="en-US" altLang="en-US" sz="3500" b="1" dirty="0">
                <a:solidFill>
                  <a:schemeClr val="tx1">
                    <a:lumMod val="75000"/>
                    <a:lumOff val="25000"/>
                  </a:schemeClr>
                </a:solidFill>
              </a:rPr>
              <a:t>Students: </a:t>
            </a:r>
            <a:r>
              <a:rPr lang="en-US" altLang="en-US" sz="3500" dirty="0">
                <a:solidFill>
                  <a:schemeClr val="tx1">
                    <a:lumMod val="75000"/>
                    <a:lumOff val="25000"/>
                  </a:schemeClr>
                </a:solidFill>
              </a:rPr>
              <a:t>Hannah Reigi, Aaron Gil, </a:t>
            </a:r>
            <a:r>
              <a:rPr lang="en-US" altLang="en-US" sz="3500" dirty="0" err="1">
                <a:solidFill>
                  <a:schemeClr val="tx1">
                    <a:lumMod val="75000"/>
                    <a:lumOff val="25000"/>
                  </a:schemeClr>
                </a:solidFill>
              </a:rPr>
              <a:t>Obailu</a:t>
            </a:r>
            <a:r>
              <a:rPr lang="en-US" altLang="en-US" sz="3500" dirty="0">
                <a:solidFill>
                  <a:schemeClr val="tx1">
                    <a:lumMod val="75000"/>
                    <a:lumOff val="25000"/>
                  </a:schemeClr>
                </a:solidFill>
              </a:rPr>
              <a:t> Keen, Ruben </a:t>
            </a:r>
            <a:r>
              <a:rPr lang="en-US" altLang="en-US" sz="3500" dirty="0" err="1">
                <a:solidFill>
                  <a:schemeClr val="tx1">
                    <a:lumMod val="75000"/>
                    <a:lumOff val="25000"/>
                  </a:schemeClr>
                </a:solidFill>
              </a:rPr>
              <a:t>Nodarse</a:t>
            </a:r>
            <a:r>
              <a:rPr lang="en-US" altLang="en-US" sz="3500" dirty="0">
                <a:solidFill>
                  <a:schemeClr val="tx1">
                    <a:lumMod val="75000"/>
                    <a:lumOff val="25000"/>
                  </a:schemeClr>
                </a:solidFill>
              </a:rPr>
              <a:t>, Gabriel Johnson</a:t>
            </a:r>
          </a:p>
          <a:p>
            <a:pPr algn="ctr" eaLnBrk="1" hangingPunct="1">
              <a:spcBef>
                <a:spcPct val="0"/>
              </a:spcBef>
              <a:buFontTx/>
              <a:buNone/>
            </a:pPr>
            <a:r>
              <a:rPr lang="en-US" altLang="en-US" sz="3500" b="1" dirty="0">
                <a:solidFill>
                  <a:schemeClr val="tx1">
                    <a:lumMod val="75000"/>
                    <a:lumOff val="25000"/>
                  </a:schemeClr>
                </a:solidFill>
              </a:rPr>
              <a:t>Mentor: </a:t>
            </a:r>
            <a:r>
              <a:rPr lang="en-US" altLang="en-US" sz="3500" dirty="0">
                <a:solidFill>
                  <a:schemeClr val="tx1">
                    <a:lumMod val="75000"/>
                    <a:lumOff val="25000"/>
                  </a:schemeClr>
                </a:solidFill>
              </a:rPr>
              <a:t>Dr. Md </a:t>
            </a:r>
            <a:r>
              <a:rPr lang="en-US" altLang="en-US" sz="3500" dirty="0" err="1">
                <a:solidFill>
                  <a:schemeClr val="tx1">
                    <a:lumMod val="75000"/>
                    <a:lumOff val="25000"/>
                  </a:schemeClr>
                </a:solidFill>
              </a:rPr>
              <a:t>Tauhidur</a:t>
            </a:r>
            <a:r>
              <a:rPr lang="en-US" altLang="en-US" sz="3500" dirty="0">
                <a:solidFill>
                  <a:schemeClr val="tx1">
                    <a:lumMod val="75000"/>
                    <a:lumOff val="25000"/>
                  </a:schemeClr>
                </a:solidFill>
              </a:rPr>
              <a:t> Rahman, Florida International University</a:t>
            </a:r>
            <a:endParaRPr lang="en-US" altLang="ja-JP" sz="3500" dirty="0">
              <a:solidFill>
                <a:schemeClr val="tx1">
                  <a:lumMod val="75000"/>
                  <a:lumOff val="25000"/>
                </a:schemeClr>
              </a:solidFill>
            </a:endParaRPr>
          </a:p>
          <a:p>
            <a:pPr algn="ctr" eaLnBrk="1" hangingPunct="1">
              <a:spcBef>
                <a:spcPct val="0"/>
              </a:spcBef>
              <a:buFontTx/>
              <a:buNone/>
            </a:pPr>
            <a:r>
              <a:rPr lang="en-US" altLang="en-US" sz="3500" b="1" dirty="0">
                <a:solidFill>
                  <a:schemeClr val="tx1">
                    <a:lumMod val="75000"/>
                    <a:lumOff val="25000"/>
                  </a:schemeClr>
                </a:solidFill>
              </a:rPr>
              <a:t>Instructor/Faculty:</a:t>
            </a:r>
            <a:r>
              <a:rPr lang="en-US" altLang="en-US" sz="3500" b="1" i="1" dirty="0">
                <a:solidFill>
                  <a:schemeClr val="tx1">
                    <a:lumMod val="75000"/>
                    <a:lumOff val="25000"/>
                  </a:schemeClr>
                </a:solidFill>
              </a:rPr>
              <a:t> </a:t>
            </a:r>
            <a:r>
              <a:rPr lang="en-US" altLang="en-US" sz="3500" dirty="0">
                <a:solidFill>
                  <a:schemeClr val="tx1">
                    <a:lumMod val="75000"/>
                    <a:lumOff val="25000"/>
                  </a:schemeClr>
                </a:solidFill>
              </a:rPr>
              <a:t>Dr. Wilmer Arellano, Florida International University</a:t>
            </a:r>
          </a:p>
        </p:txBody>
      </p:sp>
      <p:sp>
        <p:nvSpPr>
          <p:cNvPr id="15" name="Text Box 19">
            <a:extLst>
              <a:ext uri="{FF2B5EF4-FFF2-40B4-BE49-F238E27FC236}">
                <a16:creationId xmlns:a16="http://schemas.microsoft.com/office/drawing/2014/main" id="{5030389D-1181-47B0-A953-D1F5FE764DFC}"/>
              </a:ext>
            </a:extLst>
          </p:cNvPr>
          <p:cNvSpPr txBox="1">
            <a:spLocks noChangeArrowheads="1"/>
          </p:cNvSpPr>
          <p:nvPr/>
        </p:nvSpPr>
        <p:spPr bwMode="auto">
          <a:xfrm>
            <a:off x="3215225" y="6461214"/>
            <a:ext cx="10162754" cy="4422057"/>
          </a:xfrm>
          <a:prstGeom prst="rect">
            <a:avLst/>
          </a:prstGeom>
          <a:noFill/>
          <a:ln w="12700">
            <a:noFill/>
            <a:miter lim="800000"/>
            <a:headEnd/>
            <a:tailEnd/>
          </a:ln>
          <a:effectLst/>
        </p:spPr>
        <p:txBody>
          <a:bodyPr wrap="square" lIns="73991" tIns="36995" rIns="73991" bIns="36995">
            <a:spAutoFit/>
          </a:bodyPr>
          <a:lstStyle/>
          <a:p>
            <a:pPr algn="ctr" defTabSz="739341" eaLnBrk="1" hangingPunct="1">
              <a:spcBef>
                <a:spcPct val="50000"/>
              </a:spcBef>
              <a:defRPr/>
            </a:pPr>
            <a:r>
              <a:rPr lang="en-US" sz="2900" b="1" dirty="0">
                <a:solidFill>
                  <a:schemeClr val="tx1">
                    <a:lumMod val="75000"/>
                    <a:lumOff val="25000"/>
                  </a:schemeClr>
                </a:solidFill>
                <a:latin typeface="Arial" charset="0"/>
                <a:ea typeface="ＭＳ Ｐゴシック" charset="-128"/>
                <a:cs typeface="ＭＳ Ｐゴシック" charset="-128"/>
              </a:rPr>
              <a:t>Sports are more competitive than ever, with players and teams striving to gain every possible edge in performance and strategy. Advanced analytics have become essential to understanding player strengths and identifying areas for improvement. However, many sports analytic tools are prohibitively expensive, limiting accessibility for amateur athletes. </a:t>
            </a:r>
          </a:p>
          <a:p>
            <a:pPr algn="ctr" defTabSz="739341" eaLnBrk="1" hangingPunct="1">
              <a:spcBef>
                <a:spcPct val="50000"/>
              </a:spcBef>
              <a:defRPr/>
            </a:pPr>
            <a:r>
              <a:rPr lang="en-US" sz="2500" b="1" dirty="0">
                <a:solidFill>
                  <a:schemeClr val="accent1">
                    <a:lumMod val="50000"/>
                  </a:schemeClr>
                </a:solidFill>
                <a:latin typeface="Arial" charset="0"/>
                <a:ea typeface="ＭＳ Ｐゴシック" charset="-128"/>
                <a:cs typeface="ＭＳ Ｐゴシック" charset="-128"/>
              </a:rPr>
              <a:t>Average Performance of Professional Athletes Over Time</a:t>
            </a:r>
          </a:p>
          <a:p>
            <a:pPr algn="ctr" defTabSz="739341" eaLnBrk="1" hangingPunct="1">
              <a:spcBef>
                <a:spcPct val="50000"/>
              </a:spcBef>
              <a:defRPr/>
            </a:pPr>
            <a:r>
              <a:rPr lang="en-US" sz="2800" dirty="0">
                <a:hlinkClick r:id="rId2"/>
              </a:rPr>
              <a:t>Historical Average NBA Player | Tableau Public</a:t>
            </a:r>
            <a:endParaRPr lang="en-US" sz="2500" b="1" dirty="0">
              <a:solidFill>
                <a:schemeClr val="accent1">
                  <a:lumMod val="50000"/>
                </a:schemeClr>
              </a:solidFill>
              <a:latin typeface="Arial" charset="0"/>
              <a:ea typeface="ＭＳ Ｐゴシック" charset="-128"/>
              <a:cs typeface="ＭＳ Ｐゴシック" charset="-128"/>
            </a:endParaRPr>
          </a:p>
        </p:txBody>
      </p:sp>
      <p:sp>
        <p:nvSpPr>
          <p:cNvPr id="17" name="Text Box 19">
            <a:extLst>
              <a:ext uri="{FF2B5EF4-FFF2-40B4-BE49-F238E27FC236}">
                <a16:creationId xmlns:a16="http://schemas.microsoft.com/office/drawing/2014/main" id="{7DFD6BD2-DC42-4F39-A3F6-2B6416BB4F80}"/>
              </a:ext>
            </a:extLst>
          </p:cNvPr>
          <p:cNvSpPr txBox="1">
            <a:spLocks noChangeArrowheads="1"/>
          </p:cNvSpPr>
          <p:nvPr/>
        </p:nvSpPr>
        <p:spPr bwMode="auto">
          <a:xfrm>
            <a:off x="15855295" y="6776403"/>
            <a:ext cx="10751320" cy="1859817"/>
          </a:xfrm>
          <a:prstGeom prst="rect">
            <a:avLst/>
          </a:prstGeom>
          <a:noFill/>
          <a:ln w="12700">
            <a:noFill/>
            <a:miter lim="800000"/>
            <a:headEnd/>
            <a:tailEnd/>
          </a:ln>
          <a:effectLst/>
        </p:spPr>
        <p:txBody>
          <a:bodyPr wrap="square" lIns="73991" tIns="36995" rIns="73991" bIns="36995">
            <a:spAutoFit/>
          </a:bodyPr>
          <a:lstStyle/>
          <a:p>
            <a:pPr algn="ctr" defTabSz="739341" eaLnBrk="1" hangingPunct="1">
              <a:spcBef>
                <a:spcPct val="50000"/>
              </a:spcBef>
              <a:defRPr/>
            </a:pPr>
            <a:r>
              <a:rPr lang="en-US" sz="2900" b="1" dirty="0">
                <a:solidFill>
                  <a:schemeClr val="tx1">
                    <a:lumMod val="75000"/>
                    <a:lumOff val="25000"/>
                  </a:schemeClr>
                </a:solidFill>
                <a:latin typeface="Arial" charset="0"/>
                <a:ea typeface="ＭＳ Ｐゴシック" charset="-128"/>
                <a:cs typeface="ＭＳ Ｐゴシック" charset="-128"/>
              </a:rPr>
              <a:t>Catapult and </a:t>
            </a:r>
            <a:r>
              <a:rPr lang="en-US" sz="2900" b="1" dirty="0" err="1">
                <a:solidFill>
                  <a:schemeClr val="tx1">
                    <a:lumMod val="75000"/>
                    <a:lumOff val="25000"/>
                  </a:schemeClr>
                </a:solidFill>
                <a:latin typeface="Arial" charset="0"/>
                <a:ea typeface="ＭＳ Ｐゴシック" charset="-128"/>
                <a:cs typeface="ＭＳ Ｐゴシック" charset="-128"/>
              </a:rPr>
              <a:t>Huupe</a:t>
            </a:r>
            <a:r>
              <a:rPr lang="en-US" sz="2900" b="1" dirty="0">
                <a:solidFill>
                  <a:schemeClr val="tx1">
                    <a:lumMod val="75000"/>
                    <a:lumOff val="25000"/>
                  </a:schemeClr>
                </a:solidFill>
                <a:latin typeface="Arial" charset="0"/>
                <a:ea typeface="ＭＳ Ｐゴシック" charset="-128"/>
                <a:cs typeface="ＭＳ Ｐゴシック" charset="-128"/>
              </a:rPr>
              <a:t> offer solutions to both amateurs and pros that want to improve their performance and increase competitiveness in basketball. These products range from $799 to several thousand dollars. </a:t>
            </a:r>
          </a:p>
        </p:txBody>
      </p:sp>
      <p:sp>
        <p:nvSpPr>
          <p:cNvPr id="19" name="Text Box 19">
            <a:extLst>
              <a:ext uri="{FF2B5EF4-FFF2-40B4-BE49-F238E27FC236}">
                <a16:creationId xmlns:a16="http://schemas.microsoft.com/office/drawing/2014/main" id="{D118C079-A883-4833-AA8B-75400F8F1680}"/>
              </a:ext>
            </a:extLst>
          </p:cNvPr>
          <p:cNvSpPr txBox="1">
            <a:spLocks noChangeArrowheads="1"/>
          </p:cNvSpPr>
          <p:nvPr/>
        </p:nvSpPr>
        <p:spPr bwMode="auto">
          <a:xfrm>
            <a:off x="31805615" y="6807208"/>
            <a:ext cx="6640205" cy="4806777"/>
          </a:xfrm>
          <a:prstGeom prst="rect">
            <a:avLst/>
          </a:prstGeom>
          <a:noFill/>
          <a:ln w="12700">
            <a:noFill/>
            <a:miter lim="800000"/>
            <a:headEnd/>
            <a:tailEnd/>
          </a:ln>
          <a:effectLst/>
        </p:spPr>
        <p:txBody>
          <a:bodyPr wrap="square" lIns="73991" tIns="36995" rIns="73991" bIns="36995">
            <a:spAutoFit/>
          </a:bodyPr>
          <a:lstStyle/>
          <a:p>
            <a:pPr algn="ctr" defTabSz="739341" eaLnBrk="1" hangingPunct="1">
              <a:spcBef>
                <a:spcPct val="50000"/>
              </a:spcBef>
              <a:defRPr/>
            </a:pPr>
            <a:r>
              <a:rPr lang="en-US" sz="3075" b="1" dirty="0">
                <a:solidFill>
                  <a:schemeClr val="tx1">
                    <a:lumMod val="75000"/>
                    <a:lumOff val="25000"/>
                  </a:schemeClr>
                </a:solidFill>
                <a:latin typeface="Arial" charset="0"/>
                <a:ea typeface="ＭＳ Ｐゴシック" charset="-128"/>
                <a:cs typeface="ＭＳ Ｐゴシック" charset="-128"/>
              </a:rPr>
              <a:t>REQUIREMENTS</a:t>
            </a:r>
          </a:p>
          <a:p>
            <a:pPr algn="ctr" defTabSz="739341" eaLnBrk="1" hangingPunct="1">
              <a:spcBef>
                <a:spcPct val="50000"/>
              </a:spcBef>
              <a:defRPr/>
            </a:pPr>
            <a:r>
              <a:rPr lang="en-US" sz="3075" b="1" dirty="0">
                <a:solidFill>
                  <a:schemeClr val="tx1">
                    <a:lumMod val="75000"/>
                    <a:lumOff val="25000"/>
                  </a:schemeClr>
                </a:solidFill>
                <a:latin typeface="Arial" charset="0"/>
                <a:ea typeface="ＭＳ Ｐゴシック" charset="-128"/>
                <a:cs typeface="ＭＳ Ｐゴシック" charset="-128"/>
              </a:rPr>
              <a:t>High-Speed Processing</a:t>
            </a:r>
          </a:p>
          <a:p>
            <a:pPr algn="ctr" defTabSz="739341" eaLnBrk="1" hangingPunct="1">
              <a:spcBef>
                <a:spcPct val="50000"/>
              </a:spcBef>
              <a:defRPr/>
            </a:pPr>
            <a:r>
              <a:rPr lang="en-US" sz="3075" b="1" dirty="0">
                <a:solidFill>
                  <a:schemeClr val="tx1">
                    <a:lumMod val="75000"/>
                    <a:lumOff val="25000"/>
                  </a:schemeClr>
                </a:solidFill>
                <a:latin typeface="Arial" charset="0"/>
                <a:ea typeface="ＭＳ Ｐゴシック" charset="-128"/>
                <a:cs typeface="ＭＳ Ｐゴシック" charset="-128"/>
              </a:rPr>
              <a:t>Affordability</a:t>
            </a:r>
          </a:p>
          <a:p>
            <a:pPr algn="ctr" defTabSz="739341" eaLnBrk="1" hangingPunct="1">
              <a:spcBef>
                <a:spcPct val="50000"/>
              </a:spcBef>
              <a:defRPr/>
            </a:pPr>
            <a:r>
              <a:rPr lang="en-US" sz="3075" b="1" dirty="0">
                <a:solidFill>
                  <a:schemeClr val="tx1">
                    <a:lumMod val="75000"/>
                    <a:lumOff val="25000"/>
                  </a:schemeClr>
                </a:solidFill>
                <a:latin typeface="Arial" charset="0"/>
                <a:ea typeface="ＭＳ Ｐゴシック" charset="-128"/>
                <a:cs typeface="ＭＳ Ｐゴシック" charset="-128"/>
              </a:rPr>
              <a:t>User Friendly Graphical Interface</a:t>
            </a:r>
          </a:p>
          <a:p>
            <a:pPr algn="ctr" defTabSz="739341" eaLnBrk="1" hangingPunct="1">
              <a:spcBef>
                <a:spcPct val="50000"/>
              </a:spcBef>
              <a:defRPr/>
            </a:pPr>
            <a:r>
              <a:rPr lang="en-US" sz="3075" b="1" dirty="0">
                <a:solidFill>
                  <a:schemeClr val="tx1">
                    <a:lumMod val="75000"/>
                    <a:lumOff val="25000"/>
                  </a:schemeClr>
                </a:solidFill>
                <a:latin typeface="Arial" charset="0"/>
                <a:ea typeface="ＭＳ Ｐゴシック" charset="-128"/>
                <a:cs typeface="ＭＳ Ｐゴシック" charset="-128"/>
              </a:rPr>
              <a:t>Accuracy </a:t>
            </a:r>
          </a:p>
          <a:p>
            <a:pPr algn="ctr" defTabSz="739341" eaLnBrk="1" hangingPunct="1">
              <a:spcBef>
                <a:spcPct val="50000"/>
              </a:spcBef>
              <a:defRPr/>
            </a:pPr>
            <a:r>
              <a:rPr lang="en-US" sz="3075" b="1" dirty="0">
                <a:solidFill>
                  <a:schemeClr val="tx1">
                    <a:lumMod val="75000"/>
                    <a:lumOff val="25000"/>
                  </a:schemeClr>
                </a:solidFill>
                <a:latin typeface="Arial" charset="0"/>
                <a:ea typeface="ＭＳ Ｐゴシック" charset="-128"/>
                <a:cs typeface="ＭＳ Ｐゴシック" charset="-128"/>
              </a:rPr>
              <a:t>Durability</a:t>
            </a:r>
          </a:p>
          <a:p>
            <a:pPr algn="ctr" defTabSz="739341" eaLnBrk="1" hangingPunct="1">
              <a:spcBef>
                <a:spcPct val="50000"/>
              </a:spcBef>
              <a:defRPr/>
            </a:pPr>
            <a:endParaRPr lang="en-US" sz="3075" b="1" dirty="0">
              <a:solidFill>
                <a:schemeClr val="tx1">
                  <a:lumMod val="75000"/>
                  <a:lumOff val="25000"/>
                </a:schemeClr>
              </a:solidFill>
              <a:latin typeface="Arial" charset="0"/>
              <a:ea typeface="ＭＳ Ｐゴシック" charset="-128"/>
              <a:cs typeface="ＭＳ Ｐゴシック" charset="-128"/>
            </a:endParaRPr>
          </a:p>
        </p:txBody>
      </p:sp>
      <p:sp>
        <p:nvSpPr>
          <p:cNvPr id="21" name="Text Box 19">
            <a:extLst>
              <a:ext uri="{FF2B5EF4-FFF2-40B4-BE49-F238E27FC236}">
                <a16:creationId xmlns:a16="http://schemas.microsoft.com/office/drawing/2014/main" id="{100C4655-EDAB-4657-AC1A-7713844423C0}"/>
              </a:ext>
            </a:extLst>
          </p:cNvPr>
          <p:cNvSpPr txBox="1">
            <a:spLocks noChangeArrowheads="1"/>
          </p:cNvSpPr>
          <p:nvPr/>
        </p:nvSpPr>
        <p:spPr bwMode="auto">
          <a:xfrm>
            <a:off x="3015343" y="14303946"/>
            <a:ext cx="10668000" cy="3002437"/>
          </a:xfrm>
          <a:prstGeom prst="rect">
            <a:avLst/>
          </a:prstGeom>
          <a:noFill/>
          <a:ln w="12700">
            <a:noFill/>
            <a:miter lim="800000"/>
            <a:headEnd/>
            <a:tailEnd/>
          </a:ln>
          <a:effectLst/>
        </p:spPr>
        <p:txBody>
          <a:bodyPr wrap="square" lIns="73991" tIns="36995" rIns="73991" bIns="36995">
            <a:spAutoFit/>
          </a:bodyPr>
          <a:lstStyle/>
          <a:p>
            <a:pPr algn="ctr" defTabSz="739341" eaLnBrk="1" hangingPunct="1">
              <a:spcBef>
                <a:spcPct val="50000"/>
              </a:spcBef>
              <a:defRPr/>
            </a:pPr>
            <a:endParaRPr lang="en-US" sz="3075" b="1" dirty="0">
              <a:solidFill>
                <a:schemeClr val="tx1">
                  <a:lumMod val="75000"/>
                  <a:lumOff val="25000"/>
                </a:schemeClr>
              </a:solidFill>
              <a:latin typeface="Arial" charset="0"/>
              <a:ea typeface="ＭＳ Ｐゴシック" charset="-128"/>
              <a:cs typeface="ＭＳ Ｐゴシック" charset="-128"/>
            </a:endParaRPr>
          </a:p>
          <a:p>
            <a:pPr algn="ctr" defTabSz="739341" eaLnBrk="1" hangingPunct="1">
              <a:spcBef>
                <a:spcPct val="50000"/>
              </a:spcBef>
              <a:defRPr/>
            </a:pPr>
            <a:r>
              <a:rPr lang="en-US" sz="2900" b="1" dirty="0">
                <a:solidFill>
                  <a:schemeClr val="tx1">
                    <a:lumMod val="75000"/>
                    <a:lumOff val="25000"/>
                  </a:schemeClr>
                </a:solidFill>
                <a:latin typeface="Arial" charset="0"/>
                <a:ea typeface="ＭＳ Ｐゴシック" charset="-128"/>
                <a:cs typeface="ＭＳ Ｐゴシック" charset="-128"/>
              </a:rPr>
              <a:t>The </a:t>
            </a:r>
            <a:r>
              <a:rPr lang="en-US" sz="2900" b="1" dirty="0" err="1">
                <a:solidFill>
                  <a:schemeClr val="tx1">
                    <a:lumMod val="75000"/>
                    <a:lumOff val="25000"/>
                  </a:schemeClr>
                </a:solidFill>
                <a:latin typeface="Arial" charset="0"/>
                <a:ea typeface="ＭＳ Ｐゴシック" charset="-128"/>
                <a:cs typeface="ＭＳ Ｐゴシック" charset="-128"/>
              </a:rPr>
              <a:t>AssistAI</a:t>
            </a:r>
            <a:r>
              <a:rPr lang="en-US" sz="2900" b="1" dirty="0">
                <a:solidFill>
                  <a:schemeClr val="tx1">
                    <a:lumMod val="75000"/>
                    <a:lumOff val="25000"/>
                  </a:schemeClr>
                </a:solidFill>
                <a:latin typeface="Arial" charset="0"/>
                <a:ea typeface="ＭＳ Ｐゴシック" charset="-128"/>
                <a:cs typeface="ＭＳ Ｐゴシック" charset="-128"/>
              </a:rPr>
              <a:t> system is built upon an Nvidia core processor operating in congruence with the </a:t>
            </a:r>
            <a:r>
              <a:rPr lang="en-US" sz="2900" b="1" dirty="0" err="1">
                <a:solidFill>
                  <a:schemeClr val="tx1">
                    <a:lumMod val="75000"/>
                    <a:lumOff val="25000"/>
                  </a:schemeClr>
                </a:solidFill>
                <a:latin typeface="Arial" charset="0"/>
                <a:ea typeface="ＭＳ Ｐゴシック" charset="-128"/>
                <a:cs typeface="ＭＳ Ｐゴシック" charset="-128"/>
              </a:rPr>
              <a:t>Arducam</a:t>
            </a:r>
            <a:r>
              <a:rPr lang="en-US" sz="2900" b="1" dirty="0">
                <a:solidFill>
                  <a:schemeClr val="tx1">
                    <a:lumMod val="75000"/>
                    <a:lumOff val="25000"/>
                  </a:schemeClr>
                </a:solidFill>
                <a:latin typeface="Arial" charset="0"/>
                <a:ea typeface="ＭＳ Ｐゴシック" charset="-128"/>
                <a:cs typeface="ＭＳ Ｐゴシック" charset="-128"/>
              </a:rPr>
              <a:t> to monitor player performance. The optional apple watch feature similarly tracks player health stats. Performance analysis are subsequently updated to our GUI in nearly-real time. </a:t>
            </a:r>
          </a:p>
        </p:txBody>
      </p:sp>
      <p:sp>
        <p:nvSpPr>
          <p:cNvPr id="23" name="Text Box 19">
            <a:extLst>
              <a:ext uri="{FF2B5EF4-FFF2-40B4-BE49-F238E27FC236}">
                <a16:creationId xmlns:a16="http://schemas.microsoft.com/office/drawing/2014/main" id="{13340458-D039-4B48-ABAA-F2B277310240}"/>
              </a:ext>
            </a:extLst>
          </p:cNvPr>
          <p:cNvSpPr txBox="1">
            <a:spLocks noChangeArrowheads="1"/>
          </p:cNvSpPr>
          <p:nvPr/>
        </p:nvSpPr>
        <p:spPr bwMode="auto">
          <a:xfrm>
            <a:off x="15907603" y="14315772"/>
            <a:ext cx="10959634" cy="1494332"/>
          </a:xfrm>
          <a:prstGeom prst="rect">
            <a:avLst/>
          </a:prstGeom>
          <a:noFill/>
          <a:ln w="12700">
            <a:noFill/>
            <a:miter lim="800000"/>
            <a:headEnd/>
            <a:tailEnd/>
          </a:ln>
          <a:effectLst/>
        </p:spPr>
        <p:txBody>
          <a:bodyPr wrap="square" lIns="73991" tIns="36995" rIns="73991" bIns="36995">
            <a:spAutoFit/>
          </a:bodyPr>
          <a:lstStyle/>
          <a:p>
            <a:pPr algn="ctr" defTabSz="739341" eaLnBrk="1" hangingPunct="1">
              <a:spcBef>
                <a:spcPct val="50000"/>
              </a:spcBef>
              <a:defRPr/>
            </a:pPr>
            <a:r>
              <a:rPr lang="en-US" sz="3075" b="1" dirty="0">
                <a:solidFill>
                  <a:schemeClr val="tx1">
                    <a:lumMod val="75000"/>
                    <a:lumOff val="25000"/>
                  </a:schemeClr>
                </a:solidFill>
                <a:latin typeface="Arial" charset="0"/>
                <a:ea typeface="ＭＳ Ｐゴシック" charset="-128"/>
                <a:cs typeface="ＭＳ Ｐゴシック" charset="-128"/>
              </a:rPr>
              <a:t>Utilizing YOLOv8 real-time object tracking, our camera vision algorithm delivers cutting edge performance in accuracy and speed. </a:t>
            </a:r>
          </a:p>
        </p:txBody>
      </p:sp>
      <p:sp>
        <p:nvSpPr>
          <p:cNvPr id="25" name="Text Box 19">
            <a:extLst>
              <a:ext uri="{FF2B5EF4-FFF2-40B4-BE49-F238E27FC236}">
                <a16:creationId xmlns:a16="http://schemas.microsoft.com/office/drawing/2014/main" id="{26AD7F49-496E-4580-8A7F-313C7CE1232E}"/>
              </a:ext>
            </a:extLst>
          </p:cNvPr>
          <p:cNvSpPr txBox="1">
            <a:spLocks noChangeArrowheads="1"/>
          </p:cNvSpPr>
          <p:nvPr/>
        </p:nvSpPr>
        <p:spPr bwMode="auto">
          <a:xfrm>
            <a:off x="29193961" y="11397241"/>
            <a:ext cx="12015985" cy="3387158"/>
          </a:xfrm>
          <a:prstGeom prst="rect">
            <a:avLst/>
          </a:prstGeom>
          <a:noFill/>
          <a:ln w="12700">
            <a:noFill/>
            <a:miter lim="800000"/>
            <a:headEnd/>
            <a:tailEnd/>
          </a:ln>
          <a:effectLst/>
        </p:spPr>
        <p:txBody>
          <a:bodyPr wrap="square" lIns="73991" tIns="36995" rIns="73991" bIns="36995">
            <a:spAutoFit/>
          </a:bodyPr>
          <a:lstStyle/>
          <a:p>
            <a:pPr algn="ctr" defTabSz="739341" eaLnBrk="1" hangingPunct="1">
              <a:spcBef>
                <a:spcPct val="50000"/>
              </a:spcBef>
              <a:defRPr/>
            </a:pPr>
            <a:r>
              <a:rPr lang="en-US" sz="3075" b="1" dirty="0">
                <a:solidFill>
                  <a:schemeClr val="tx1">
                    <a:lumMod val="75000"/>
                    <a:lumOff val="25000"/>
                  </a:schemeClr>
                </a:solidFill>
                <a:latin typeface="Arial" charset="0"/>
                <a:ea typeface="ＭＳ Ｐゴシック" charset="-128"/>
                <a:cs typeface="ＭＳ Ｐゴシック" charset="-128"/>
              </a:rPr>
              <a:t>Performance data capture by our camera vision algorithm and wearable device are packaged into JSON files and sent to our host domain. Here, we display data such as shots taken, missed, real player shooting accuracy, along with other health metrics such as speed, heart rate, and overall player agility.  Our straightforward analysis gives players a new insight to potential areas of improvement. </a:t>
            </a:r>
          </a:p>
        </p:txBody>
      </p:sp>
      <p:sp>
        <p:nvSpPr>
          <p:cNvPr id="27" name="Text Box 19">
            <a:extLst>
              <a:ext uri="{FF2B5EF4-FFF2-40B4-BE49-F238E27FC236}">
                <a16:creationId xmlns:a16="http://schemas.microsoft.com/office/drawing/2014/main" id="{DA85E364-5CE3-4A69-A7C0-17AFBE0E5F69}"/>
              </a:ext>
            </a:extLst>
          </p:cNvPr>
          <p:cNvSpPr txBox="1">
            <a:spLocks noChangeArrowheads="1"/>
          </p:cNvSpPr>
          <p:nvPr/>
        </p:nvSpPr>
        <p:spPr bwMode="auto">
          <a:xfrm>
            <a:off x="5891647" y="23219346"/>
            <a:ext cx="4114800" cy="547687"/>
          </a:xfrm>
          <a:prstGeom prst="rect">
            <a:avLst/>
          </a:prstGeom>
          <a:noFill/>
          <a:ln w="12700">
            <a:noFill/>
            <a:miter lim="800000"/>
            <a:headEnd/>
            <a:tailEnd/>
          </a:ln>
          <a:effectLst/>
        </p:spPr>
        <p:txBody>
          <a:bodyPr lIns="73991" tIns="36995" rIns="73991" bIns="36995">
            <a:spAutoFit/>
          </a:bodyPr>
          <a:lstStyle/>
          <a:p>
            <a:pPr algn="ctr" defTabSz="739341" eaLnBrk="1" hangingPunct="1">
              <a:spcBef>
                <a:spcPct val="50000"/>
              </a:spcBef>
              <a:defRPr/>
            </a:pPr>
            <a:r>
              <a:rPr lang="en-US" sz="3075" b="1" dirty="0">
                <a:solidFill>
                  <a:schemeClr val="tx1">
                    <a:lumMod val="75000"/>
                    <a:lumOff val="25000"/>
                  </a:schemeClr>
                </a:solidFill>
                <a:latin typeface="Arial" charset="0"/>
                <a:ea typeface="ＭＳ Ｐゴシック" charset="-128"/>
                <a:cs typeface="ＭＳ Ｐゴシック" charset="-128"/>
              </a:rPr>
              <a:t>VERIFICATION</a:t>
            </a:r>
          </a:p>
        </p:txBody>
      </p:sp>
      <p:sp>
        <p:nvSpPr>
          <p:cNvPr id="29" name="Text Box 19">
            <a:extLst>
              <a:ext uri="{FF2B5EF4-FFF2-40B4-BE49-F238E27FC236}">
                <a16:creationId xmlns:a16="http://schemas.microsoft.com/office/drawing/2014/main" id="{A85BFBFB-1974-4A7B-AC40-FEAEC2B256FA}"/>
              </a:ext>
            </a:extLst>
          </p:cNvPr>
          <p:cNvSpPr txBox="1">
            <a:spLocks noChangeArrowheads="1"/>
          </p:cNvSpPr>
          <p:nvPr/>
        </p:nvSpPr>
        <p:spPr bwMode="auto">
          <a:xfrm>
            <a:off x="19173555" y="22331246"/>
            <a:ext cx="4114800" cy="547687"/>
          </a:xfrm>
          <a:prstGeom prst="rect">
            <a:avLst/>
          </a:prstGeom>
          <a:noFill/>
          <a:ln w="12700">
            <a:noFill/>
            <a:miter lim="800000"/>
            <a:headEnd/>
            <a:tailEnd/>
          </a:ln>
          <a:effectLst/>
        </p:spPr>
        <p:txBody>
          <a:bodyPr lIns="73991" tIns="36995" rIns="73991" bIns="36995">
            <a:spAutoFit/>
          </a:bodyPr>
          <a:lstStyle/>
          <a:p>
            <a:pPr algn="ctr" defTabSz="739341" eaLnBrk="1" hangingPunct="1">
              <a:spcBef>
                <a:spcPct val="50000"/>
              </a:spcBef>
              <a:defRPr/>
            </a:pPr>
            <a:r>
              <a:rPr lang="en-US" sz="3075" b="1" dirty="0">
                <a:solidFill>
                  <a:schemeClr val="tx1">
                    <a:lumMod val="75000"/>
                    <a:lumOff val="25000"/>
                  </a:schemeClr>
                </a:solidFill>
                <a:latin typeface="Arial" charset="0"/>
                <a:ea typeface="ＭＳ Ｐゴシック" charset="-128"/>
                <a:cs typeface="ＭＳ Ｐゴシック" charset="-128"/>
              </a:rPr>
              <a:t>SUMMARY</a:t>
            </a:r>
          </a:p>
        </p:txBody>
      </p:sp>
      <p:sp>
        <p:nvSpPr>
          <p:cNvPr id="31" name="Text Box 19">
            <a:extLst>
              <a:ext uri="{FF2B5EF4-FFF2-40B4-BE49-F238E27FC236}">
                <a16:creationId xmlns:a16="http://schemas.microsoft.com/office/drawing/2014/main" id="{D1C19103-1A8B-4765-B64D-44A485C13AA4}"/>
              </a:ext>
            </a:extLst>
          </p:cNvPr>
          <p:cNvSpPr txBox="1">
            <a:spLocks noChangeArrowheads="1"/>
          </p:cNvSpPr>
          <p:nvPr/>
        </p:nvSpPr>
        <p:spPr bwMode="auto">
          <a:xfrm>
            <a:off x="33666547" y="23258744"/>
            <a:ext cx="4114800" cy="547687"/>
          </a:xfrm>
          <a:prstGeom prst="rect">
            <a:avLst/>
          </a:prstGeom>
          <a:noFill/>
          <a:ln w="12700">
            <a:noFill/>
            <a:miter lim="800000"/>
            <a:headEnd/>
            <a:tailEnd/>
          </a:ln>
          <a:effectLst/>
        </p:spPr>
        <p:txBody>
          <a:bodyPr lIns="73991" tIns="36995" rIns="73991" bIns="36995">
            <a:spAutoFit/>
          </a:bodyPr>
          <a:lstStyle/>
          <a:p>
            <a:pPr algn="ctr" defTabSz="739341" eaLnBrk="1" hangingPunct="1">
              <a:spcBef>
                <a:spcPct val="50000"/>
              </a:spcBef>
              <a:defRPr/>
            </a:pPr>
            <a:r>
              <a:rPr lang="en-US" sz="3075" b="1" dirty="0">
                <a:solidFill>
                  <a:schemeClr val="tx1">
                    <a:lumMod val="75000"/>
                    <a:lumOff val="25000"/>
                  </a:schemeClr>
                </a:solidFill>
                <a:latin typeface="Arial" charset="0"/>
                <a:ea typeface="ＭＳ Ｐゴシック" charset="-128"/>
                <a:cs typeface="ＭＳ Ｐゴシック" charset="-128"/>
              </a:rPr>
              <a:t>REFERENCES</a:t>
            </a:r>
          </a:p>
        </p:txBody>
      </p:sp>
      <p:pic>
        <p:nvPicPr>
          <p:cNvPr id="4" name="Picture 3" descr="A graph of different colored lines&#10;&#10;Description automatically generated">
            <a:extLst>
              <a:ext uri="{FF2B5EF4-FFF2-40B4-BE49-F238E27FC236}">
                <a16:creationId xmlns:a16="http://schemas.microsoft.com/office/drawing/2014/main" id="{7DB49C37-C64E-B157-1534-3BD1A614C4F5}"/>
              </a:ext>
            </a:extLst>
          </p:cNvPr>
          <p:cNvPicPr>
            <a:picLocks noChangeAspect="1"/>
          </p:cNvPicPr>
          <p:nvPr/>
        </p:nvPicPr>
        <p:blipFill>
          <a:blip r:embed="rId3"/>
          <a:stretch>
            <a:fillRect/>
          </a:stretch>
        </p:blipFill>
        <p:spPr>
          <a:xfrm>
            <a:off x="2897188" y="10148113"/>
            <a:ext cx="10959634" cy="4195231"/>
          </a:xfrm>
          <a:prstGeom prst="rect">
            <a:avLst/>
          </a:prstGeom>
        </p:spPr>
      </p:pic>
      <p:pic>
        <p:nvPicPr>
          <p:cNvPr id="8" name="Picture 7">
            <a:extLst>
              <a:ext uri="{FF2B5EF4-FFF2-40B4-BE49-F238E27FC236}">
                <a16:creationId xmlns:a16="http://schemas.microsoft.com/office/drawing/2014/main" id="{08EE8348-40BE-F570-C347-2C58806835FC}"/>
              </a:ext>
            </a:extLst>
          </p:cNvPr>
          <p:cNvPicPr>
            <a:picLocks noChangeAspect="1"/>
          </p:cNvPicPr>
          <p:nvPr/>
        </p:nvPicPr>
        <p:blipFill>
          <a:blip r:embed="rId4"/>
          <a:stretch>
            <a:fillRect/>
          </a:stretch>
        </p:blipFill>
        <p:spPr>
          <a:xfrm>
            <a:off x="16224433" y="9240295"/>
            <a:ext cx="5006522" cy="4155832"/>
          </a:xfrm>
          <a:prstGeom prst="rect">
            <a:avLst/>
          </a:prstGeom>
        </p:spPr>
      </p:pic>
      <p:pic>
        <p:nvPicPr>
          <p:cNvPr id="12" name="Picture 11">
            <a:extLst>
              <a:ext uri="{FF2B5EF4-FFF2-40B4-BE49-F238E27FC236}">
                <a16:creationId xmlns:a16="http://schemas.microsoft.com/office/drawing/2014/main" id="{32E6B215-6E1F-E197-E418-51D450D50932}"/>
              </a:ext>
            </a:extLst>
          </p:cNvPr>
          <p:cNvPicPr>
            <a:picLocks noChangeAspect="1"/>
          </p:cNvPicPr>
          <p:nvPr/>
        </p:nvPicPr>
        <p:blipFill>
          <a:blip r:embed="rId5"/>
          <a:stretch>
            <a:fillRect/>
          </a:stretch>
        </p:blipFill>
        <p:spPr>
          <a:xfrm>
            <a:off x="21819828" y="9264967"/>
            <a:ext cx="4503571" cy="4422058"/>
          </a:xfrm>
          <a:prstGeom prst="rect">
            <a:avLst/>
          </a:prstGeom>
        </p:spPr>
      </p:pic>
      <p:pic>
        <p:nvPicPr>
          <p:cNvPr id="1026" name="Picture 2">
            <a:extLst>
              <a:ext uri="{FF2B5EF4-FFF2-40B4-BE49-F238E27FC236}">
                <a16:creationId xmlns:a16="http://schemas.microsoft.com/office/drawing/2014/main" id="{CAE82006-082A-CB9E-A964-B444D11A3C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7943" y="17395949"/>
            <a:ext cx="10668000" cy="57207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DC7B1CC-F906-1CA8-76E9-35C286E432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73152" y="901246"/>
            <a:ext cx="4155832" cy="415583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216D4CD3-C03C-A874-A3A7-5E8A032211F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68226" y="15968286"/>
            <a:ext cx="11064251" cy="573045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24795707-8181-5F8A-92A1-9FBB047D35A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17360" y="15062938"/>
            <a:ext cx="12015985" cy="6466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95391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8234652b-4e88-4c30-a994-e272914a045d">
      <UserInfo>
        <DisplayName>Yesim Anter</DisplayName>
        <AccountId>16</AccountId>
        <AccountType/>
      </UserInfo>
      <UserInfo>
        <DisplayName>Melanie Blanco Nunes</DisplayName>
        <AccountId>3910</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3CE5B01EE2D43479BD19C8CF7AEE55D" ma:contentTypeVersion="13" ma:contentTypeDescription="Create a new document." ma:contentTypeScope="" ma:versionID="2d7e13b4c1f9c742a1b729716686fa70">
  <xsd:schema xmlns:xsd="http://www.w3.org/2001/XMLSchema" xmlns:xs="http://www.w3.org/2001/XMLSchema" xmlns:p="http://schemas.microsoft.com/office/2006/metadata/properties" xmlns:ns2="59a830c1-7073-48e7-a623-528add45a120" xmlns:ns3="8234652b-4e88-4c30-a994-e272914a045d" targetNamespace="http://schemas.microsoft.com/office/2006/metadata/properties" ma:root="true" ma:fieldsID="dd72dc9f5930d74132881e2ed6f9d74a" ns2:_="" ns3:_="">
    <xsd:import namespace="59a830c1-7073-48e7-a623-528add45a120"/>
    <xsd:import namespace="8234652b-4e88-4c30-a994-e272914a045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a830c1-7073-48e7-a623-528add45a1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234652b-4e88-4c30-a994-e272914a045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C15244-6FF3-46F0-8281-63B63B937A69}">
  <ds:schemaRefs>
    <ds:schemaRef ds:uri="http://schemas.microsoft.com/sharepoint/v3/contenttype/forms"/>
  </ds:schemaRefs>
</ds:datastoreItem>
</file>

<file path=customXml/itemProps2.xml><?xml version="1.0" encoding="utf-8"?>
<ds:datastoreItem xmlns:ds="http://schemas.openxmlformats.org/officeDocument/2006/customXml" ds:itemID="{37899C4F-194D-47FC-918D-4EED357B8EAD}">
  <ds:schemaRefs>
    <ds:schemaRef ds:uri="http://schemas.microsoft.com/office/2006/metadata/properties"/>
    <ds:schemaRef ds:uri="http://schemas.microsoft.com/office/infopath/2007/PartnerControls"/>
    <ds:schemaRef ds:uri="f1f308d3-4c92-402a-ab04-f7497706f561"/>
    <ds:schemaRef ds:uri="8234652b-4e88-4c30-a994-e272914a045d"/>
  </ds:schemaRefs>
</ds:datastoreItem>
</file>

<file path=customXml/itemProps3.xml><?xml version="1.0" encoding="utf-8"?>
<ds:datastoreItem xmlns:ds="http://schemas.openxmlformats.org/officeDocument/2006/customXml" ds:itemID="{F0D2C1F0-C363-4025-91DB-18F733C598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a830c1-7073-48e7-a623-528add45a120"/>
    <ds:schemaRef ds:uri="8234652b-4e88-4c30-a994-e272914a04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3170</TotalTime>
  <Words>363</Words>
  <Application>Microsoft Office PowerPoint</Application>
  <PresentationFormat>Custom</PresentationFormat>
  <Paragraphs>25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Neue Haas Grotesk Text Pro</vt:lpstr>
      <vt:lpstr>1_Office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Oscar Negret</dc:creator>
  <cp:lastModifiedBy>Reigi, Hannah R - RACIWI</cp:lastModifiedBy>
  <cp:revision>79</cp:revision>
  <dcterms:created xsi:type="dcterms:W3CDTF">2019-06-25T19:12:02Z</dcterms:created>
  <dcterms:modified xsi:type="dcterms:W3CDTF">2024-11-27T15:24:09Z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0x010100D3CE5B01EE2D43479BD19C8CF7AEE55D</vt:lpwstr>
  </property>
  <property fmtid="{D5CDD505-2E9C-101B-9397-08002B2CF9AE}" pid="3" name="Order">
    <vt:r8>24800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ies>
</file>